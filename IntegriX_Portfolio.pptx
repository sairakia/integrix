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DAA51-8FF4-44B8-95B2-5F5F0D719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F1F952-5591-404F-804C-484C5A1D2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834D16-B255-4F88-ADE7-43661C38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6BC39-8FC1-48CB-862D-542F81E0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B39717-8465-4688-BD74-38399E45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59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4981D-050B-4A44-A021-5496976F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2AC0FF-9E02-42ED-8484-456F23612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B54A18-7C99-4574-AEF5-CC9D6FF7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DD606-9CFA-4A2B-916C-04E7A967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90007E-C5F3-4DE0-97B6-7C95C028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4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130E2-D809-4446-A7A2-02E462F1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24E51A-3510-42E0-ABC7-E8DAF2C94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41144D-B691-4139-8E0E-CDACD637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6797F-9B6F-45DC-9EFF-877F0B50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0595CE-7A05-439B-8383-39B83B09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8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B86BD-11F1-4DE9-BE26-A1A6F90A9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81DC76-4337-46EA-9D5D-46F9AA6EC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28B431-786F-4E92-8CC2-3E936CAD9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C2C7AF-1270-49CA-A9FE-DB333188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7B15BF-11D6-46C5-A336-8FABF4A6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9D254E-D3D5-4B38-987E-26474796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17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97182-2CFB-4E10-AC02-9C2AE00C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7DA561-90B8-49DD-BF8C-C2076656A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9C693A-943D-4D28-A6B1-799582C1F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2C1361-9290-4018-B13D-19F93CB12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1B04D3-F003-45B2-89A3-0D291831A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787D4D-C689-43CE-B3C3-7D1353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D43ABB-44D8-47DA-9CD7-AA46C474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C2B821-CE23-4ADF-B608-765DFD2C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74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51F2D-2220-481F-9CBF-E84EB00B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73B5A6-B837-440E-BD40-A53104A5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46676-4D6C-438F-9711-A256C005C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38DD17-99E3-41DF-8C66-7911FF8D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545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AEF325-0F0C-4AFA-A449-0ACC0FA1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36BF13-2D00-4720-B87F-C75610C6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8C39D0-2FC9-4A8C-AB73-BCA330BB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299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DD19D-13E9-4093-9333-7849E9A4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1DBC84-94B8-4FF8-9CBE-7F9BB6DE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75ABFE-BF39-4097-B4A3-E47A8CAF4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137923-2BC8-4350-B878-C27B6125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12DCE4-B257-4C57-B256-52F028BA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A0F7D5-1A54-46AB-9769-22317DFD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33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49BC-5B6F-4F14-B95D-A70091B74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7DE8CF-49E9-468F-AB5F-03B9B9B59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F1F3F9-51E3-4F57-B406-7D27E341F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AAB79D-2E1E-40D0-BB44-A34A60A7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87498A-6518-426C-B68F-BE1D65EC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650579-B8D2-42E2-94E9-D2F6FFD0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76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D692F-6B15-4DED-A42A-9990ADB4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21FDA0-192E-4F54-AD21-182DB142A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D2A55D-5042-4483-AF3C-71DC5FC8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AF2D45-387A-4B06-BF89-4A160B49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31F736-2E13-4317-814B-FEA9CC844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DBC5B5-5AE5-4B91-BDD5-295E8480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8B4B94-8073-4E03-B58C-B7096D643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1B644-4612-4EFC-88BF-28452E7F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7E8B72-231A-4BB1-BA23-6A1E7BAD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EFC2D0-6EA3-4767-A97E-84ED6821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43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DC834B-446E-4C32-A7F1-4FC1A1EA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E14586-8EA1-447C-9E63-CCD8495DB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85FB25-43A9-40FF-A2FF-A4AB7AAE7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A74F5-C569-4024-9C80-BA55B90637DA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873C5-4B3B-4897-919D-E7458E520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F63A9-2878-4DC5-A1CB-10DEA0394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8A32B-FA5F-4B2E-A95B-50126E3B90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523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9A1F35E-2C07-4A87-B911-792F43B12425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285DA-F26C-40A5-83CB-728D9A954E8F}"/>
              </a:ext>
            </a:extLst>
          </p:cNvPr>
          <p:cNvSpPr txBox="1"/>
          <p:nvPr/>
        </p:nvSpPr>
        <p:spPr>
          <a:xfrm>
            <a:off x="1016000" y="1841500"/>
            <a:ext cx="11430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5200" b="1">
                <a:solidFill>
                  <a:srgbClr val="111827"/>
                </a:solidFill>
                <a:latin typeface="맑은 고딕" panose="020B0503020000020004" pitchFamily="50" charset="-127"/>
              </a:rPr>
              <a:t>IntegriX</a:t>
            </a:r>
            <a:endParaRPr lang="ko-KR" altLang="en-US" sz="5200" b="1">
              <a:solidFill>
                <a:srgbClr val="11182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7F95D-E221-4193-BFE8-1E5D5D39777C}"/>
              </a:ext>
            </a:extLst>
          </p:cNvPr>
          <p:cNvSpPr txBox="1"/>
          <p:nvPr/>
        </p:nvSpPr>
        <p:spPr>
          <a:xfrm>
            <a:off x="1066800" y="2857500"/>
            <a:ext cx="1244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400">
                <a:solidFill>
                  <a:srgbClr val="374151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2400">
                <a:solidFill>
                  <a:srgbClr val="374151"/>
                </a:solidFill>
                <a:latin typeface="맑은 고딕" panose="020B0503020000020004" pitchFamily="50" charset="-127"/>
              </a:rPr>
              <a:t>기반 텍스트</a:t>
            </a:r>
            <a:r>
              <a:rPr lang="en-US" altLang="ko-KR" sz="2400">
                <a:solidFill>
                  <a:srgbClr val="37415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374151"/>
                </a:solidFill>
                <a:latin typeface="맑은 고딕" panose="020B0503020000020004" pitchFamily="50" charset="-127"/>
              </a:rPr>
              <a:t>이미지 분석 및 피싱 위험 </a:t>
            </a:r>
            <a:r>
              <a:rPr lang="en-US" altLang="ko-KR" sz="2400">
                <a:solidFill>
                  <a:srgbClr val="374151"/>
                </a:solidFill>
                <a:latin typeface="맑은 고딕" panose="020B0503020000020004" pitchFamily="50" charset="-127"/>
              </a:rPr>
              <a:t>URL </a:t>
            </a:r>
            <a:r>
              <a:rPr lang="ko-KR" altLang="en-US" sz="2400">
                <a:solidFill>
                  <a:srgbClr val="374151"/>
                </a:solidFill>
                <a:latin typeface="맑은 고딕" panose="020B0503020000020004" pitchFamily="50" charset="-127"/>
              </a:rPr>
              <a:t>탐지 플랫폼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DEC98-ECC9-4052-88D4-5A390B4589C7}"/>
              </a:ext>
            </a:extLst>
          </p:cNvPr>
          <p:cNvSpPr txBox="1"/>
          <p:nvPr/>
        </p:nvSpPr>
        <p:spPr>
          <a:xfrm>
            <a:off x="1092200" y="3619500"/>
            <a:ext cx="533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>
                <a:solidFill>
                  <a:srgbClr val="1E40AF"/>
                </a:solidFill>
                <a:latin typeface="맑은 고딕" panose="020B0503020000020004" pitchFamily="50" charset="-127"/>
              </a:rPr>
              <a:t>개인 프로젝트 포트폴리오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F296D-D7BF-4281-864F-AFD598A13D85}"/>
              </a:ext>
            </a:extLst>
          </p:cNvPr>
          <p:cNvSpPr txBox="1"/>
          <p:nvPr/>
        </p:nvSpPr>
        <p:spPr>
          <a:xfrm>
            <a:off x="1066800" y="5334000"/>
            <a:ext cx="9652000" cy="11079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>
                <a:solidFill>
                  <a:srgbClr val="374151"/>
                </a:solidFill>
                <a:latin typeface="맑은 고딕" panose="020B0503020000020004" pitchFamily="50" charset="-127"/>
              </a:rPr>
              <a:t>이름</a:t>
            </a:r>
            <a:r>
              <a:rPr lang="en-US" altLang="ko-KR">
                <a:solidFill>
                  <a:srgbClr val="37415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>
                <a:solidFill>
                  <a:srgbClr val="374151"/>
                </a:solidFill>
                <a:latin typeface="맑은 고딕" panose="020B0503020000020004" pitchFamily="50" charset="-127"/>
              </a:rPr>
              <a:t>홍길동</a:t>
            </a:r>
          </a:p>
          <a:p>
            <a:r>
              <a:rPr lang="en-US" altLang="ko-KR">
                <a:solidFill>
                  <a:srgbClr val="374151"/>
                </a:solidFill>
                <a:latin typeface="맑은 고딕" panose="020B0503020000020004" pitchFamily="50" charset="-127"/>
              </a:rPr>
              <a:t>GitHub: https://github.com/</a:t>
            </a:r>
            <a:r>
              <a:rPr lang="ko-KR" altLang="en-US">
                <a:solidFill>
                  <a:srgbClr val="374151"/>
                </a:solidFill>
                <a:latin typeface="맑은 고딕" panose="020B0503020000020004" pitchFamily="50" charset="-127"/>
              </a:rPr>
              <a:t>본인아이디</a:t>
            </a:r>
          </a:p>
          <a:p>
            <a:r>
              <a:rPr lang="en-US" altLang="ko-KR">
                <a:solidFill>
                  <a:srgbClr val="374151"/>
                </a:solidFill>
                <a:latin typeface="맑은 고딕" panose="020B0503020000020004" pitchFamily="50" charset="-127"/>
              </a:rPr>
              <a:t>Notion: https://notion.so/</a:t>
            </a:r>
            <a:r>
              <a:rPr lang="ko-KR" altLang="en-US">
                <a:solidFill>
                  <a:srgbClr val="374151"/>
                </a:solidFill>
                <a:latin typeface="맑은 고딕" panose="020B0503020000020004" pitchFamily="50" charset="-127"/>
              </a:rPr>
              <a:t>본인노션주소</a:t>
            </a:r>
          </a:p>
          <a:p>
            <a:r>
              <a:rPr lang="en-US" altLang="ko-KR">
                <a:solidFill>
                  <a:srgbClr val="374151"/>
                </a:solidFill>
                <a:latin typeface="맑은 고딕" panose="020B0503020000020004" pitchFamily="50" charset="-127"/>
              </a:rPr>
              <a:t>Email: </a:t>
            </a:r>
            <a:r>
              <a:rPr lang="ko-KR" altLang="en-US">
                <a:solidFill>
                  <a:srgbClr val="374151"/>
                </a:solidFill>
                <a:latin typeface="맑은 고딕" panose="020B0503020000020004" pitchFamily="50" charset="-127"/>
              </a:rPr>
              <a:t>본인이메일</a:t>
            </a:r>
            <a:r>
              <a:rPr lang="en-US" altLang="ko-KR">
                <a:solidFill>
                  <a:srgbClr val="374151"/>
                </a:solidFill>
                <a:latin typeface="맑은 고딕" panose="020B0503020000020004" pitchFamily="50" charset="-127"/>
              </a:rPr>
              <a:t>@example.com</a:t>
            </a:r>
            <a:endParaRPr lang="ko-KR" altLang="en-US">
              <a:solidFill>
                <a:srgbClr val="37415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296827-8CFC-429C-BB89-8BE2D8FEED0A}"/>
              </a:ext>
            </a:extLst>
          </p:cNvPr>
          <p:cNvSpPr/>
          <p:nvPr/>
        </p:nvSpPr>
        <p:spPr>
          <a:xfrm>
            <a:off x="1016000" y="4254500"/>
            <a:ext cx="2159000" cy="762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948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70F733-5F73-4386-AB38-56AFB53AFD26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D087B4-AEFF-4C47-8B8A-FD0BE5EF3925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DBB78-379B-4C21-A3E8-1C5D6D043B41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자기소개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256A3-1BA8-42B4-A4BB-75439A0D011E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서비스 전체 흐름을 이해하는 풀스택 개발자를 목표로 합니다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103C56-4305-4CD2-BD2E-ECFAAF2A7285}"/>
              </a:ext>
            </a:extLst>
          </p:cNvPr>
          <p:cNvSpPr/>
          <p:nvPr/>
        </p:nvSpPr>
        <p:spPr>
          <a:xfrm>
            <a:off x="889000" y="1905000"/>
            <a:ext cx="6858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3E353-A135-4AF0-9E92-79E3CFCD4DC0}"/>
              </a:ext>
            </a:extLst>
          </p:cNvPr>
          <p:cNvSpPr txBox="1"/>
          <p:nvPr/>
        </p:nvSpPr>
        <p:spPr>
          <a:xfrm>
            <a:off x="1193800" y="2184400"/>
            <a:ext cx="624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관심 분야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B488F-7FFA-4990-A444-DDA2AAF3C84E}"/>
              </a:ext>
            </a:extLst>
          </p:cNvPr>
          <p:cNvSpPr txBox="1"/>
          <p:nvPr/>
        </p:nvSpPr>
        <p:spPr>
          <a:xfrm>
            <a:off x="1193800" y="2768600"/>
            <a:ext cx="6248400" cy="18210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Spring Boot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기반 백엔드 </a:t>
            </a: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개발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보안 및 인증 처리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연동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AI API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를 활용한 분석 서비스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클라우드 배포 및 운영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BC38C7-BBAC-4F7C-BBA8-01378449B442}"/>
              </a:ext>
            </a:extLst>
          </p:cNvPr>
          <p:cNvSpPr/>
          <p:nvPr/>
        </p:nvSpPr>
        <p:spPr>
          <a:xfrm>
            <a:off x="8509000" y="1905000"/>
            <a:ext cx="6858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6EE34-F93D-4E9D-89DB-A3AFFC94C38E}"/>
              </a:ext>
            </a:extLst>
          </p:cNvPr>
          <p:cNvSpPr txBox="1"/>
          <p:nvPr/>
        </p:nvSpPr>
        <p:spPr>
          <a:xfrm>
            <a:off x="8813800" y="2184400"/>
            <a:ext cx="624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보유 기술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9AE77-FC83-4EF8-A850-63E7841D3E70}"/>
              </a:ext>
            </a:extLst>
          </p:cNvPr>
          <p:cNvSpPr txBox="1"/>
          <p:nvPr/>
        </p:nvSpPr>
        <p:spPr>
          <a:xfrm>
            <a:off x="8813800" y="2768600"/>
            <a:ext cx="6248400" cy="18210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Backend: Java 17, Spring Boot, Spring Security, JWT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Database: MariaDB, MongoDB Atlas, Redis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Frontend: React, TypeScript, Vite, Axios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Infra: AWS EC2, AWS RDS, Nginx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API: Google Safe Browsing, RDAP, OpenAI API</a:t>
            </a:r>
            <a:endParaRPr lang="ko-KR" altLang="en-US" sz="17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269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693607-ADA8-47A7-B6D6-D751F93F3136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D456B4-886B-406F-812B-58617CD4FBD4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D7744-CE21-4DE8-ABE8-6EFCF7A627B0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프로젝트명 및 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B1F3E-E01F-4A0A-90CE-85813A6FF9A9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IntegriX</a:t>
            </a:r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는 온라인 위험 요소를 하나의 서비스에서 분석합니다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8715A-DC82-4135-9141-1BD49137D123}"/>
              </a:ext>
            </a:extLst>
          </p:cNvPr>
          <p:cNvSpPr txBox="1"/>
          <p:nvPr/>
        </p:nvSpPr>
        <p:spPr>
          <a:xfrm>
            <a:off x="1143000" y="2095500"/>
            <a:ext cx="13716000" cy="215443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• URL,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텍스트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이미지를 분석해 피싱 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URL,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가짜뉴스 가능성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이미지 조작 가능성을 탐지하는 웹 서비스입니다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사용자는 의심스러운 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URL,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문장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이미지를 입력하고 위험도와 분석 근거를 확인할 수 있습니다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분석 결과는 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MongoDB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에 저장되며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대시보드와 분석 이력 화면에서 다시 확인할 수 있습니다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신고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관리자 관리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1F2937"/>
                </a:solidFill>
                <a:latin typeface="맑은 고딕" panose="020B0503020000020004" pitchFamily="50" charset="-127"/>
              </a:rPr>
              <a:t>공지사항 기능을 함께 구현해 서비스 운영 흐름까지 구성했습니다</a:t>
            </a:r>
            <a:r>
              <a:rPr lang="en-US" altLang="ko-KR" sz="23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3201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40823E-DF35-415E-ADEA-4C637519C23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703635-BEB5-4B59-8F08-889E105E93ED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E5CA4-7169-4069-9EB3-D11639BDFC8E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문제점 및 제안 이유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27D75-D1E7-469C-B7D6-FCB5997511FC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사용자가 온라인 콘텐츠의 위험성을 직접 판단하기 어렵다는 문제에서 출발했습니다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03B32-A8C4-4C29-A268-C032C9094C87}"/>
              </a:ext>
            </a:extLst>
          </p:cNvPr>
          <p:cNvSpPr txBox="1"/>
          <p:nvPr/>
        </p:nvSpPr>
        <p:spPr>
          <a:xfrm>
            <a:off x="1143000" y="2095500"/>
            <a:ext cx="13716000" cy="207749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피싱 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URL,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허위 정보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조작 이미지는 겉보기에는 정상 콘텐츠처럼 보일 수 있습니다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URL,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텍스트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이미지 분석 도구가 각각 분리되어 있어 사용자가 여러 서비스를 따로 이용해야 합니다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단순히 안전 또는 위험만 보여주면 사용자가 결과를 신뢰하기 어렵습니다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분석 결과와 판단 근거를 함께 제공하고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분석 기록을 한곳에서 관리할 수 있는 서비스가 필요하다고 판단했습니다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  <a:endParaRPr lang="ko-KR" altLang="en-US" sz="22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6886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52917CD-493E-4DCC-8E5A-204B09C9EF78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2BD8E0-94A3-4407-B2C9-558A056DE1DE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94DAE-DA0C-4331-B01C-8DDD8E4924CF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해결방안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161FE-EA19-4C51-8D44-E3CBF8CC0906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자체 규칙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외부 보안 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API, AI </a:t>
            </a:r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분석을 결합했습니다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7741D2-58FE-49D4-A9E1-FCCFFDA42E93}"/>
              </a:ext>
            </a:extLst>
          </p:cNvPr>
          <p:cNvSpPr/>
          <p:nvPr/>
        </p:nvSpPr>
        <p:spPr>
          <a:xfrm>
            <a:off x="762000" y="1968500"/>
            <a:ext cx="4572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3CF3F-1CFD-467C-8743-E6705CD7094B}"/>
              </a:ext>
            </a:extLst>
          </p:cNvPr>
          <p:cNvSpPr txBox="1"/>
          <p:nvPr/>
        </p:nvSpPr>
        <p:spPr>
          <a:xfrm>
            <a:off x="1066800" y="2247900"/>
            <a:ext cx="3962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URL </a:t>
            </a:r>
            <a:r>
              <a:rPr lang="ko-KR" altLang="en-US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1FBA5-5D05-4B82-B9DA-113AA0235819}"/>
              </a:ext>
            </a:extLst>
          </p:cNvPr>
          <p:cNvSpPr txBox="1"/>
          <p:nvPr/>
        </p:nvSpPr>
        <p:spPr>
          <a:xfrm>
            <a:off x="1066800" y="2832100"/>
            <a:ext cx="3962400" cy="14311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URL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정규화 및 형식 검증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DNS, HTTPS, SSL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상태 검사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Google Safe Browsing API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연동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RDAP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기반 도메인 등록 정보 분석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F94DDB-F4EF-47D7-8FF5-331EF2FD63DC}"/>
              </a:ext>
            </a:extLst>
          </p:cNvPr>
          <p:cNvSpPr/>
          <p:nvPr/>
        </p:nvSpPr>
        <p:spPr>
          <a:xfrm>
            <a:off x="5842000" y="1968500"/>
            <a:ext cx="4572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D060D-3295-4B43-989A-6B9EFBDB544E}"/>
              </a:ext>
            </a:extLst>
          </p:cNvPr>
          <p:cNvSpPr txBox="1"/>
          <p:nvPr/>
        </p:nvSpPr>
        <p:spPr>
          <a:xfrm>
            <a:off x="6146800" y="2247900"/>
            <a:ext cx="3962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분석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299EC3-6A16-4918-972E-3D5E22F34958}"/>
              </a:ext>
            </a:extLst>
          </p:cNvPr>
          <p:cNvSpPr txBox="1"/>
          <p:nvPr/>
        </p:nvSpPr>
        <p:spPr>
          <a:xfrm>
            <a:off x="6146800" y="2832100"/>
            <a:ext cx="3962400" cy="14311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OpenAI API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기반 텍스트 분석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가짜뉴스 가능성 판단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이미지 조작 가능성 분석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분석 결과 및 상세 근거 저장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BDF0BA-F5C3-4389-9761-A2DBF4850BC5}"/>
              </a:ext>
            </a:extLst>
          </p:cNvPr>
          <p:cNvSpPr/>
          <p:nvPr/>
        </p:nvSpPr>
        <p:spPr>
          <a:xfrm>
            <a:off x="10922000" y="1968500"/>
            <a:ext cx="4572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86977A-07A5-4B72-9F08-3489808DDB37}"/>
              </a:ext>
            </a:extLst>
          </p:cNvPr>
          <p:cNvSpPr txBox="1"/>
          <p:nvPr/>
        </p:nvSpPr>
        <p:spPr>
          <a:xfrm>
            <a:off x="11226800" y="2247900"/>
            <a:ext cx="3962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운영 기능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3850D3-9533-425E-A890-99E654F36B77}"/>
              </a:ext>
            </a:extLst>
          </p:cNvPr>
          <p:cNvSpPr txBox="1"/>
          <p:nvPr/>
        </p:nvSpPr>
        <p:spPr>
          <a:xfrm>
            <a:off x="11226800" y="2832100"/>
            <a:ext cx="3962400" cy="14311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분석 이력 및 대시보드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신고 및 관리자 처리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공지사항 관리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JWT </a:t>
            </a:r>
            <a:r>
              <a:rPr lang="ko-KR" altLang="en-US" sz="1700">
                <a:solidFill>
                  <a:srgbClr val="1F2937"/>
                </a:solidFill>
                <a:latin typeface="맑은 고딕" panose="020B0503020000020004" pitchFamily="50" charset="-127"/>
              </a:rPr>
              <a:t>인증 및 배포 환경 구성</a:t>
            </a:r>
          </a:p>
        </p:txBody>
      </p:sp>
    </p:spTree>
    <p:extLst>
      <p:ext uri="{BB962C8B-B14F-4D97-AF65-F5344CB8AC3E}">
        <p14:creationId xmlns:p14="http://schemas.microsoft.com/office/powerpoint/2010/main" val="2115369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43805C-FA1D-49F0-A4DB-12B0901220C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D47ED5-7FBF-4183-9DB5-FE996EBDAC6E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44C5C-5439-4F66-9EB0-822793CEA355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본인이 구현한 기능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B6AD9-6E87-401B-ACD3-F851CE7CF336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개인 프로젝트로 기획부터 배포까지 전체 기능을 직접 구현했습니다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A58DF-5F3C-4B03-B075-4C453CC4790F}"/>
              </a:ext>
            </a:extLst>
          </p:cNvPr>
          <p:cNvSpPr txBox="1"/>
          <p:nvPr/>
        </p:nvSpPr>
        <p:spPr>
          <a:xfrm>
            <a:off x="1143000" y="1968500"/>
            <a:ext cx="13970000" cy="29238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• Spring Boot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기반 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URL,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텍스트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이미지 분석 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REST API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구현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• URL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위험도 점수 계산 로직 및 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scoreFactors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기반 판단 근거 제공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• Google Safe Browsing API, RDAP, OpenAI API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연동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• MariaDB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기반 회원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신고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공지사항 데이터 관리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• MongoDB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기반 분석 결과 및 상세 이력 저장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• React + TypeScript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기반 분석 화면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대시보드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마이페이지</a:t>
            </a: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관리자 페이지 구현</a:t>
            </a:r>
          </a:p>
          <a:p>
            <a:pPr>
              <a:spcAft>
                <a:spcPts val="1000"/>
              </a:spcAft>
            </a:pPr>
            <a:r>
              <a:rPr lang="en-US" altLang="ko-KR" sz="2000">
                <a:solidFill>
                  <a:srgbClr val="1F2937"/>
                </a:solidFill>
                <a:latin typeface="맑은 고딕" panose="020B0503020000020004" pitchFamily="50" charset="-127"/>
              </a:rPr>
              <a:t>• AWS EC2, RDS, MongoDB Atlas, Redis, Nginx </a:t>
            </a:r>
            <a:r>
              <a:rPr lang="ko-KR" altLang="en-US" sz="2000">
                <a:solidFill>
                  <a:srgbClr val="1F2937"/>
                </a:solidFill>
                <a:latin typeface="맑은 고딕" panose="020B0503020000020004" pitchFamily="50" charset="-127"/>
              </a:rPr>
              <a:t>기반 배포 환경 구성</a:t>
            </a:r>
          </a:p>
        </p:txBody>
      </p:sp>
    </p:spTree>
    <p:extLst>
      <p:ext uri="{BB962C8B-B14F-4D97-AF65-F5344CB8AC3E}">
        <p14:creationId xmlns:p14="http://schemas.microsoft.com/office/powerpoint/2010/main" val="132792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C22474-9214-4224-AA72-A70D592772B4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033984-D7BD-492D-A1C8-64617F72FAF5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4725D-3DFC-4A45-A6C7-84B03FA63C5B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핵심 구현 사례</a:t>
            </a:r>
            <a:r>
              <a:rPr lang="en-US" altLang="ko-KR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: URL </a:t>
            </a:r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위험도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D815B-9100-4E4E-84C3-28C9F64677E7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여러 위험 신호를 점수화하고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결과의 근거를 함께 제공했습니다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C83AE-7605-4FD9-A8AE-F839037591FB}"/>
              </a:ext>
            </a:extLst>
          </p:cNvPr>
          <p:cNvSpPr txBox="1"/>
          <p:nvPr/>
        </p:nvSpPr>
        <p:spPr>
          <a:xfrm>
            <a:off x="1143000" y="1968500"/>
            <a:ext cx="13970000" cy="21287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• DNS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조회 실패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, SSL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인증서 오류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, HTTPS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연결 실패 여부를 검사했습니다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긴 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URL, @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문자 포함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하이픈 과다 사용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, IP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직접 사용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단축 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URL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여부를 점수화했습니다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• Google Safe Browsing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에서 위험 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URL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로 확인되면 위험 점수를 크게 반영했습니다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• RDAP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조회로 도메인 생성일을 확인하고 최근 등록 도메인일 경우 위험 요소로 반영했습니다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최종 점수뿐 아니라 어떤 요소가 점수에 영향을 주었는지 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scoreFactors</a:t>
            </a:r>
            <a:r>
              <a:rPr lang="ko-KR" altLang="en-US" sz="2100">
                <a:solidFill>
                  <a:srgbClr val="1F2937"/>
                </a:solidFill>
                <a:latin typeface="맑은 고딕" panose="020B0503020000020004" pitchFamily="50" charset="-127"/>
              </a:rPr>
              <a:t>로 제공했습니다</a:t>
            </a:r>
            <a:r>
              <a:rPr lang="en-US" altLang="ko-KR" sz="21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  <a:endParaRPr lang="ko-KR" altLang="en-US" sz="21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535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1FD113-E4A3-48B7-B9F4-87C65F03B938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C77E55-8546-4F50-A4AB-75AD69D15080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67C18-2B28-49FE-A262-4EDBA6CA7F41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시스템 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050D8-D4AE-4049-9296-B80A4FBCB67E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프론트엔드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백엔드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데이터 저장소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API</a:t>
            </a:r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를 분리해 구성했습니다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250E6B-E7D1-44C8-834F-C37A91B24349}"/>
              </a:ext>
            </a:extLst>
          </p:cNvPr>
          <p:cNvSpPr/>
          <p:nvPr/>
        </p:nvSpPr>
        <p:spPr>
          <a:xfrm>
            <a:off x="762000" y="1905000"/>
            <a:ext cx="3302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8F14F-3830-480B-B4F5-1339593FF33C}"/>
              </a:ext>
            </a:extLst>
          </p:cNvPr>
          <p:cNvSpPr txBox="1"/>
          <p:nvPr/>
        </p:nvSpPr>
        <p:spPr>
          <a:xfrm>
            <a:off x="1066800" y="2184400"/>
            <a:ext cx="2692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Frontend</a:t>
            </a:r>
            <a:endParaRPr lang="ko-KR" altLang="en-US" sz="2000" b="1">
              <a:solidFill>
                <a:srgbClr val="1E40A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C0DD6-536D-4A02-8E71-3C76355E2687}"/>
              </a:ext>
            </a:extLst>
          </p:cNvPr>
          <p:cNvSpPr txBox="1"/>
          <p:nvPr/>
        </p:nvSpPr>
        <p:spPr>
          <a:xfrm>
            <a:off x="1066800" y="2768600"/>
            <a:ext cx="2692400" cy="14311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React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TypeScript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Vite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Axios</a:t>
            </a:r>
            <a:endParaRPr lang="ko-KR" altLang="en-US" sz="17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855BDB-DB1F-4510-A86D-9E508F960F3C}"/>
              </a:ext>
            </a:extLst>
          </p:cNvPr>
          <p:cNvSpPr/>
          <p:nvPr/>
        </p:nvSpPr>
        <p:spPr>
          <a:xfrm>
            <a:off x="4572000" y="1905000"/>
            <a:ext cx="3302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9B790-A250-48B7-92C4-354AD91D1061}"/>
              </a:ext>
            </a:extLst>
          </p:cNvPr>
          <p:cNvSpPr txBox="1"/>
          <p:nvPr/>
        </p:nvSpPr>
        <p:spPr>
          <a:xfrm>
            <a:off x="4876800" y="2184400"/>
            <a:ext cx="2692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Backend</a:t>
            </a:r>
            <a:endParaRPr lang="ko-KR" altLang="en-US" sz="2000" b="1">
              <a:solidFill>
                <a:srgbClr val="1E40A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185FCA-45C6-4561-8D93-E9F79F27C011}"/>
              </a:ext>
            </a:extLst>
          </p:cNvPr>
          <p:cNvSpPr txBox="1"/>
          <p:nvPr/>
        </p:nvSpPr>
        <p:spPr>
          <a:xfrm>
            <a:off x="4876800" y="2768600"/>
            <a:ext cx="2692400" cy="14311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Spring Boot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Spring Security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JWT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REST API</a:t>
            </a:r>
            <a:endParaRPr lang="ko-KR" altLang="en-US" sz="17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208532-059E-4BF4-A005-79097955A0FB}"/>
              </a:ext>
            </a:extLst>
          </p:cNvPr>
          <p:cNvSpPr/>
          <p:nvPr/>
        </p:nvSpPr>
        <p:spPr>
          <a:xfrm>
            <a:off x="8382000" y="1905000"/>
            <a:ext cx="3302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8D68D3-CC8F-4602-A414-A0CECFE85924}"/>
              </a:ext>
            </a:extLst>
          </p:cNvPr>
          <p:cNvSpPr txBox="1"/>
          <p:nvPr/>
        </p:nvSpPr>
        <p:spPr>
          <a:xfrm>
            <a:off x="8686800" y="2184400"/>
            <a:ext cx="2692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Data</a:t>
            </a:r>
            <a:endParaRPr lang="ko-KR" altLang="en-US" sz="2000" b="1">
              <a:solidFill>
                <a:srgbClr val="1E40A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94B6E-6960-4C16-B80F-19B432AF4157}"/>
              </a:ext>
            </a:extLst>
          </p:cNvPr>
          <p:cNvSpPr txBox="1"/>
          <p:nvPr/>
        </p:nvSpPr>
        <p:spPr>
          <a:xfrm>
            <a:off x="8686800" y="2768600"/>
            <a:ext cx="2692400" cy="10413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MariaDB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MongoDB Atlas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Redis</a:t>
            </a:r>
            <a:endParaRPr lang="ko-KR" altLang="en-US" sz="17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A65B89-CD72-409D-A65C-35D1576EB0F7}"/>
              </a:ext>
            </a:extLst>
          </p:cNvPr>
          <p:cNvSpPr/>
          <p:nvPr/>
        </p:nvSpPr>
        <p:spPr>
          <a:xfrm>
            <a:off x="12192000" y="1905000"/>
            <a:ext cx="3302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9F0E33-5886-4C3D-8B48-8C7E3974F6D3}"/>
              </a:ext>
            </a:extLst>
          </p:cNvPr>
          <p:cNvSpPr txBox="1"/>
          <p:nvPr/>
        </p:nvSpPr>
        <p:spPr>
          <a:xfrm>
            <a:off x="12496800" y="2184400"/>
            <a:ext cx="2692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E40AF"/>
                </a:solidFill>
                <a:latin typeface="맑은 고딕" panose="020B0503020000020004" pitchFamily="50" charset="-127"/>
              </a:rPr>
              <a:t>External / Infra</a:t>
            </a:r>
            <a:endParaRPr lang="ko-KR" altLang="en-US" sz="2000" b="1">
              <a:solidFill>
                <a:srgbClr val="1E40A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9727D-A9AA-43F3-BAD5-012EE24E623E}"/>
              </a:ext>
            </a:extLst>
          </p:cNvPr>
          <p:cNvSpPr txBox="1"/>
          <p:nvPr/>
        </p:nvSpPr>
        <p:spPr>
          <a:xfrm>
            <a:off x="12496800" y="2768600"/>
            <a:ext cx="2692400" cy="14311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Google Safe Browsing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RDAP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OpenAI API</a:t>
            </a:r>
          </a:p>
          <a:p>
            <a:pPr>
              <a:spcAft>
                <a:spcPts val="1000"/>
              </a:spcAft>
            </a:pPr>
            <a:r>
              <a:rPr lang="en-US" altLang="ko-KR" sz="1700">
                <a:solidFill>
                  <a:srgbClr val="1F2937"/>
                </a:solidFill>
                <a:latin typeface="맑은 고딕" panose="020B0503020000020004" pitchFamily="50" charset="-127"/>
              </a:rPr>
              <a:t>• AWS EC2, RDS, Nginx</a:t>
            </a:r>
            <a:endParaRPr lang="ko-KR" altLang="en-US" sz="17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02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40ECDC-FFE7-49F8-A712-B3159235F45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AD9887-558D-4EF3-8F5A-74FE5C753209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6AAB2-9A19-4AC8-BC0D-0B6C8EB4940C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GitHub </a:t>
            </a:r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및 화면 캡처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411A5-85C1-400D-83AB-FB71FD3E09A0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저장소 링크와 주요 화면 이미지를 추가하는 페이지입니다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812FE-FAA3-48E9-A638-68F31A79BDA2}"/>
              </a:ext>
            </a:extLst>
          </p:cNvPr>
          <p:cNvSpPr txBox="1"/>
          <p:nvPr/>
        </p:nvSpPr>
        <p:spPr>
          <a:xfrm>
            <a:off x="1143000" y="2095500"/>
            <a:ext cx="13716000" cy="207749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Backend GitHub: https://github.com/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본인아이디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/IntegriX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Frontend GitHub: https://github.com/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본인아이디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/IntegriX-Frontend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추가 권장 화면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대시보드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URL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분석 결과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텍스트 분석 결과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이미지 분석 결과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관리자 페이지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공지사항 화면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실제 제출 전 본인 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GitHub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링크와 화면 캡처 이미지를 교체하면 됩니다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  <a:endParaRPr lang="ko-KR" altLang="en-US" sz="22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621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307787C-885E-41FE-AAFE-7ED8CCB2A70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367500-4913-42A8-BDCC-18CCF651147F}"/>
              </a:ext>
            </a:extLst>
          </p:cNvPr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694FC-BB9E-4F08-A75E-A897FA805AFA}"/>
              </a:ext>
            </a:extLst>
          </p:cNvPr>
          <p:cNvSpPr txBox="1"/>
          <p:nvPr/>
        </p:nvSpPr>
        <p:spPr>
          <a:xfrm>
            <a:off x="889000" y="571500"/>
            <a:ext cx="1270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11827"/>
                </a:solidFill>
                <a:latin typeface="맑은 고딕" panose="020B0503020000020004" pitchFamily="50" charset="-127"/>
              </a:rPr>
              <a:t>배운 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CADB5-6207-4E32-9A5A-D3495BF6E448}"/>
              </a:ext>
            </a:extLst>
          </p:cNvPr>
          <p:cNvSpPr txBox="1"/>
          <p:nvPr/>
        </p:nvSpPr>
        <p:spPr>
          <a:xfrm>
            <a:off x="914400" y="1244600"/>
            <a:ext cx="1270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B5563"/>
                </a:solidFill>
                <a:latin typeface="맑은 고딕" panose="020B0503020000020004" pitchFamily="50" charset="-127"/>
              </a:rPr>
              <a:t>기능 구현을 넘어 분석 근거와 운영 흐름까지 고려했습니다</a:t>
            </a:r>
            <a:r>
              <a:rPr lang="en-US" altLang="ko-KR" sz="1500">
                <a:solidFill>
                  <a:srgbClr val="4B5563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4B5563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8D93D-4C83-4057-9B75-3EA1ABB11CBD}"/>
              </a:ext>
            </a:extLst>
          </p:cNvPr>
          <p:cNvSpPr txBox="1"/>
          <p:nvPr/>
        </p:nvSpPr>
        <p:spPr>
          <a:xfrm>
            <a:off x="1143000" y="2095500"/>
            <a:ext cx="13716000" cy="207749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API,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인증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데이터 저장소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배포 환경을 함께 구성하며 서비스 전체 흐름을 경험했습니다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URL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위험도 분석에서 여러 신호를 조합해 점수를 계산하고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사용자가 이해할 수 있는 근거를 제공하는 방법을 배웠습니다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데이터 성격에 따라 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MariaDB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와 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MongoDB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를 나누어 사용하는 경험을 했습니다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937"/>
                </a:solidFill>
                <a:latin typeface="맑은 고딕" panose="020B0503020000020004" pitchFamily="50" charset="-127"/>
              </a:rPr>
              <a:t>앞으로도 사용자가 신뢰할 수 있는 결과를 제공하는 서비스를 개발하고 싶습니다</a:t>
            </a:r>
            <a:r>
              <a:rPr lang="en-US" altLang="ko-KR" sz="2200">
                <a:solidFill>
                  <a:srgbClr val="1F2937"/>
                </a:solidFill>
                <a:latin typeface="맑은 고딕" panose="020B0503020000020004" pitchFamily="50" charset="-127"/>
              </a:rPr>
              <a:t>.</a:t>
            </a:r>
            <a:endParaRPr lang="ko-KR" altLang="en-US" sz="2200">
              <a:solidFill>
                <a:srgbClr val="1F2937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251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</Words>
  <Application>Microsoft Office PowerPoint</Application>
  <PresentationFormat>사용자 지정</PresentationFormat>
  <Paragraphs>99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8316-08</dc:creator>
  <cp:lastModifiedBy>8316-08</cp:lastModifiedBy>
  <cp:revision>1</cp:revision>
  <dcterms:created xsi:type="dcterms:W3CDTF">2026-10-05T01:20:38Z</dcterms:created>
  <dcterms:modified xsi:type="dcterms:W3CDTF">2026-10-05T01:20:38Z</dcterms:modified>
</cp:coreProperties>
</file>